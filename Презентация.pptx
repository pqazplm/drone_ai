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7.jpeg" ContentType="image/jpeg"/>
  <Override PartName="/ppt/media/image2.jpeg" ContentType="image/jpeg"/>
  <Override PartName="/ppt/media/image5.svg" ContentType="image/svg"/>
  <Override PartName="/ppt/media/image8.png" ContentType="image/png"/>
  <Override PartName="/ppt/media/image3.jpeg" ContentType="image/jpeg"/>
  <Override PartName="/ppt/media/image4.png" ContentType="image/png"/>
  <Override PartName="/ppt/media/image6.png" ContentType="image/png"/>
  <Override PartName="/ppt/media/image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8ED4394-7B68-468A-8203-2E132E9A0CF6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A415FA-080B-4FD3-8F09-BB99DF3521D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61CCB0-0FEC-425F-9715-E840C20B32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7AE785-9259-49F5-A006-DAB3E174E2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75D10B-9147-4905-A194-C181A744B1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F95540-E8C6-43D4-BE2A-9E6284866D3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C24E75-4687-4810-B69B-EE7D070338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EADBBF-2A10-4EBE-871E-B687AC6E1C3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A45C92-CB6E-4A77-AFC7-5381187E6B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6D2FA4-D775-4438-9C03-960096D0E7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6EE639-B351-4CEF-9A64-76A5ABCB18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20320"/>
            <a:ext cx="1097136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0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6984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Shape 0"/>
          <p:cNvSpPr/>
          <p:nvPr/>
        </p:nvSpPr>
        <p:spPr>
          <a:xfrm>
            <a:off x="7619760" y="0"/>
            <a:ext cx="4569840" cy="685584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Text 1"/>
          <p:cNvSpPr/>
          <p:nvPr/>
        </p:nvSpPr>
        <p:spPr>
          <a:xfrm>
            <a:off x="661320" y="1440000"/>
            <a:ext cx="6294600" cy="31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6000" spc="-201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МОДУЛЬ ДОНАВЕДЕНИЯ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661320" y="4127400"/>
            <a:ext cx="629460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650" spc="-79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на базе одноплатного компьютера для FPV-дронов</a:t>
            </a:r>
            <a:endParaRPr b="0" lang="ru-RU" sz="2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650" spc="-79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с использованием машинного зрения</a:t>
            </a:r>
            <a:endParaRPr b="0" lang="ru-RU" sz="2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661320" y="5632920"/>
            <a:ext cx="62946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27000"/>
              </a:lnSpc>
              <a:tabLst>
                <a:tab algn="l" pos="0"/>
              </a:tabLst>
            </a:pPr>
            <a:r>
              <a:rPr b="0" i="1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Докладчик: Шариков А.А.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619760" y="3060000"/>
            <a:ext cx="4571280" cy="14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</a:pPr>
            <a:r>
              <a:rPr b="0" i="1" lang="ru-RU" sz="22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«Будущее ИИ — не замена человека, а расширение его возможностей».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661320" y="1115640"/>
            <a:ext cx="108666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ОБЗОР ПРЕЗЕНТАЦИИ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661320" y="1486440"/>
            <a:ext cx="108666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700" spc="-113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Структура доклада</a:t>
            </a:r>
            <a:endParaRPr b="0" lang="ru-RU" sz="3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661320" y="2360520"/>
            <a:ext cx="3758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45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01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661320" y="2656440"/>
            <a:ext cx="3494880" cy="2340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" name="Text 4"/>
          <p:cNvSpPr/>
          <p:nvPr/>
        </p:nvSpPr>
        <p:spPr>
          <a:xfrm>
            <a:off x="661320" y="2801880"/>
            <a:ext cx="34948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Проблематика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61320" y="3210480"/>
            <a:ext cx="34948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Актуальность задачи донаведения в современных условиях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347360" y="2360520"/>
            <a:ext cx="3758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45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02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347360" y="2656440"/>
            <a:ext cx="3494880" cy="2340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" name="Text 8"/>
          <p:cNvSpPr/>
          <p:nvPr/>
        </p:nvSpPr>
        <p:spPr>
          <a:xfrm>
            <a:off x="4347360" y="2801880"/>
            <a:ext cx="34948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Техническое решение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4347360" y="3210480"/>
            <a:ext cx="34948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Аппаратная платформа и алгоритмическое ядро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8033400" y="2360520"/>
            <a:ext cx="3758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45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03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8033400" y="2656440"/>
            <a:ext cx="3494880" cy="2340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8033400" y="2801880"/>
            <a:ext cx="34948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Архитектура системы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8033400" y="3210480"/>
            <a:ext cx="34948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Нейросетевой детектор, трекер, блок управления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661320" y="4146120"/>
            <a:ext cx="3758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45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04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661320" y="4441680"/>
            <a:ext cx="5337720" cy="2340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661320" y="4587120"/>
            <a:ext cx="533772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Результаты и применение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61320" y="4995720"/>
            <a:ext cx="53377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Характеристики, стендовая проверка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6190200" y="4146120"/>
            <a:ext cx="3758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45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05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6190200" y="4441680"/>
            <a:ext cx="5337720" cy="2340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6190200" y="4587120"/>
            <a:ext cx="533772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Перспективы развития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6190200" y="4995720"/>
            <a:ext cx="53377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Дорожная карта и преимущества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6984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0"/>
          <p:cNvSpPr/>
          <p:nvPr/>
        </p:nvSpPr>
        <p:spPr>
          <a:xfrm>
            <a:off x="661320" y="623880"/>
            <a:ext cx="62946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300" spc="-99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Проблематика</a:t>
            </a:r>
            <a:endParaRPr b="0" lang="ru-RU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661320" y="1385280"/>
            <a:ext cx="6294600" cy="180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FPV-дрон стал массовым ударным средством. Однако средства РЭБ противника целенаправленно давят каналы управления и видеопотока. Критичен </a:t>
            </a:r>
            <a:r>
              <a:rPr b="1" lang="en-US" sz="1300" spc="-2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терминальный участок</a:t>
            </a: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— потеря связи за 2–5 секунд до цели означает полный срыв задачи. Ручное управление в условиях помех принципиально ненадёжно. </a:t>
            </a:r>
            <a:r>
              <a:rPr b="1" lang="en-US" sz="1300" spc="-2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Вывод:</a:t>
            </a: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необходимо автономное донаведение по бортовому видео без участия оператора.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661320" y="3367440"/>
            <a:ext cx="3069720" cy="1483920"/>
          </a:xfrm>
          <a:prstGeom prst="roundRect">
            <a:avLst>
              <a:gd name="adj" fmla="val 4808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Text 3"/>
          <p:cNvSpPr/>
          <p:nvPr/>
        </p:nvSpPr>
        <p:spPr>
          <a:xfrm>
            <a:off x="837720" y="3543840"/>
            <a:ext cx="2716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5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FPV — массовое средство</a:t>
            </a:r>
            <a:endParaRPr b="0" lang="ru-RU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837720" y="3901320"/>
            <a:ext cx="271692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Тысячи применений в сутки; низкая стоимость; высокая оперативная роль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3886560" y="3367440"/>
            <a:ext cx="3069720" cy="1483920"/>
          </a:xfrm>
          <a:prstGeom prst="roundRect">
            <a:avLst>
              <a:gd name="adj" fmla="val 4808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Text 6"/>
          <p:cNvSpPr/>
          <p:nvPr/>
        </p:nvSpPr>
        <p:spPr>
          <a:xfrm>
            <a:off x="4062960" y="3543840"/>
            <a:ext cx="2716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5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РЭБ давит каналы</a:t>
            </a:r>
            <a:endParaRPr b="0" lang="ru-RU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062960" y="3901320"/>
            <a:ext cx="271692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Подавление управления и видео — особенно на финальных секундах траектории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661320" y="5006520"/>
            <a:ext cx="6294600" cy="1225440"/>
          </a:xfrm>
          <a:prstGeom prst="roundRect">
            <a:avLst>
              <a:gd name="adj" fmla="val 5821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Text 9"/>
          <p:cNvSpPr/>
          <p:nvPr/>
        </p:nvSpPr>
        <p:spPr>
          <a:xfrm>
            <a:off x="837720" y="5182920"/>
            <a:ext cx="594180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5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Итог - срыв задачи</a:t>
            </a:r>
            <a:endParaRPr b="0" lang="ru-RU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837720" y="5540400"/>
            <a:ext cx="59418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7000"/>
              </a:lnSpc>
              <a:tabLst>
                <a:tab algn="l" pos="0"/>
              </a:tabLst>
            </a:pP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Потеря связи за секунды до цели = промах; оператор дизориентирован без картинки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661320" y="538200"/>
            <a:ext cx="108666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31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КОНЦЕПЦИЯ РЕШЕНИЯ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651960" y="900000"/>
            <a:ext cx="108666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62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Что такое модуль донаведения?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1800000" y="1571040"/>
            <a:ext cx="3647520" cy="364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7020000" y="2300400"/>
            <a:ext cx="4514400" cy="14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7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Автономный вычислительный модуль на базе </a:t>
            </a:r>
            <a:r>
              <a:rPr b="1" lang="en-US" sz="1300" spc="-17" strike="noStrike" u="none">
                <a:solidFill>
                  <a:srgbClr val="272525"/>
                </a:solidFill>
                <a:effectLst/>
                <a:uFillTx/>
                <a:latin typeface="Inter"/>
                <a:ea typeface="Inter Bold"/>
              </a:rPr>
              <a:t>Raspberry Pi Zero 2 W</a:t>
            </a:r>
            <a:r>
              <a:rPr b="0" lang="en-US" sz="1300" spc="-17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устанавливается на борт FPV-дрона, который перехватывает управление на финальном участке атаки по команде оператора. Используя курсовую камеру, модуль самостоятельно идентифицирует и сопровождает цель даже при потере видеосвязи с пилотом и радиоканала управления.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1320" y="5619960"/>
            <a:ext cx="3581280" cy="10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3"/>
          <p:cNvSpPr/>
          <p:nvPr/>
        </p:nvSpPr>
        <p:spPr>
          <a:xfrm>
            <a:off x="830520" y="5738040"/>
            <a:ext cx="32940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300" spc="-3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Платформа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830520" y="5938560"/>
            <a:ext cx="329400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7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Raspberry Pi Zero 2 W — 4 ядра ARM Cortex-A53, 512 МБ RAM; ПК — Speedybee F405 V4 (Betaflight)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04160" y="5619960"/>
            <a:ext cx="3581280" cy="10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5"/>
          <p:cNvSpPr/>
          <p:nvPr/>
        </p:nvSpPr>
        <p:spPr>
          <a:xfrm>
            <a:off x="4473000" y="5738040"/>
            <a:ext cx="32940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300" spc="-3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Камера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473000" y="5940000"/>
            <a:ext cx="329400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7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RPI Camera 5 Мп OV5647 — штатный модуль камеры Raspberry Pi, CSI-интерфейс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46640" y="5619960"/>
            <a:ext cx="3581280" cy="10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7"/>
          <p:cNvSpPr/>
          <p:nvPr/>
        </p:nvSpPr>
        <p:spPr>
          <a:xfrm>
            <a:off x="8115480" y="5738040"/>
            <a:ext cx="32940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300" spc="-3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Интерфейс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8115480" y="5938560"/>
            <a:ext cx="329400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7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MSP по UART/USB, 115200 бод; override каналов R/P/Y/T по AUX1; MSP_SET_RAW_RC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61320" y="534600"/>
            <a:ext cx="108666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45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АРХИТЕКТУРА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61320" y="829080"/>
            <a:ext cx="108666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91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Программный</a:t>
            </a:r>
            <a:r>
              <a:rPr b="1" lang="en-US" sz="3050" spc="-91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 пайплайн системы</a:t>
            </a:r>
            <a:endParaRPr b="0" lang="ru-RU" sz="3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1476720" y="1507680"/>
            <a:ext cx="9236160" cy="39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2"/>
          <p:cNvSpPr/>
          <p:nvPr/>
        </p:nvSpPr>
        <p:spPr>
          <a:xfrm>
            <a:off x="3681000" y="4451400"/>
            <a:ext cx="13694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Отбор кадров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3681000" y="4772160"/>
            <a:ext cx="1369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en-US" sz="1250" spc="-34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Инференс каждые 3 кадра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7203600" y="4633560"/>
            <a:ext cx="13694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Фильтрация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7203600" y="4954320"/>
            <a:ext cx="136944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en-US" sz="1250" spc="-34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Выделение класса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1924560" y="1867680"/>
            <a:ext cx="13694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Захват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1924560" y="2188440"/>
            <a:ext cx="1369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en-US" sz="1250" spc="-34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Picamera2 720×576 разрешение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8907840" y="1867680"/>
            <a:ext cx="13694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Трекинг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8907840" y="2188440"/>
            <a:ext cx="1369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en-US" sz="1250" spc="-34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SimpleIoUTracker + PAL FB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5464080" y="1867680"/>
            <a:ext cx="13694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Модель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5464080" y="2188440"/>
            <a:ext cx="1369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en-US" sz="1250" spc="-34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YOLOv8n INT8 TFLite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661320" y="5642280"/>
            <a:ext cx="1086660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30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Видеопоток Picamera2 720×576 захватывается непрерывно; инференс запускается на каждом 3-м кадре. Параллельный поток guidance читает MSP_RC на 25 Гц и отправляет MSP_SET_RAW_RC. Библиотеки: </a:t>
            </a:r>
            <a:r>
              <a:rPr b="1" lang="en-US" sz="1300" spc="-26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OpenCV, Picamera2, ai-edge-litert / tflite-runtime, pyserial</a:t>
            </a:r>
            <a:r>
              <a:rPr b="0" lang="en-US" sz="130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. Отрисовка боксов — в PAL-framebuffer для вывода в шлем оператора.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61320" y="669960"/>
            <a:ext cx="108666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57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НЕЙРОСЕТЕВОЕ ЯДРО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61320" y="1040760"/>
            <a:ext cx="1086660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113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Детектор и трекер целей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rcRect l="8834" t="8066" r="18996" b="9883"/>
          <a:stretch/>
        </p:blipFill>
        <p:spPr>
          <a:xfrm>
            <a:off x="1260000" y="1800000"/>
            <a:ext cx="3778560" cy="23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2"/>
          <p:cNvSpPr/>
          <p:nvPr/>
        </p:nvSpPr>
        <p:spPr>
          <a:xfrm>
            <a:off x="6332760" y="2165400"/>
            <a:ext cx="5201640" cy="18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1450" spc="-3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Модель:</a:t>
            </a: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YOLOv8n, экспорт 192×192 INT8 TFLite.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1450" spc="-3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Обучение:</a:t>
            </a: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smoke-прогон COCO (возможен собственный датасет FPV-кадров (Roboflow)).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1450" spc="-31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Классы:</a:t>
            </a: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0 (person), 2 (car), 7 (truck).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661320" y="444312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875880" y="4657680"/>
            <a:ext cx="30657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Инференс .pt (ноутбук)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875880" y="5066280"/>
            <a:ext cx="30657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111,1 мс / кадр — базовый замер PyTorch на x86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6"/>
          <p:cNvSpPr/>
          <p:nvPr/>
        </p:nvSpPr>
        <p:spPr>
          <a:xfrm>
            <a:off x="4347360" y="444312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4561920" y="4657680"/>
            <a:ext cx="306576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Инференс TFLite (RPi, оценка)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4561920" y="5361480"/>
            <a:ext cx="30657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~600–750 мс / кадр — расчётная оценка на RPi Zero 2 W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8033400" y="444312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8247600" y="4657680"/>
            <a:ext cx="30657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57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mAP / .tflite-замеры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8247600" y="5066280"/>
            <a:ext cx="306576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34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~50-60 мс / кадр </a:t>
            </a:r>
            <a:r>
              <a:rPr b="0" lang="en-US" sz="1450" spc="-31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— практическая оценка на Rpi Zero 2 W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661320" y="596880"/>
            <a:ext cx="108666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54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ХАРАКТЕРИСТИКИ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661320" y="945360"/>
            <a:ext cx="108666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105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Ключевые показатели эффективности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794520" y="1852200"/>
            <a:ext cx="50590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1" lang="en-US" sz="4650" spc="-139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~15-16</a:t>
            </a:r>
            <a:endParaRPr b="0" lang="ru-RU" sz="4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661320" y="2662200"/>
            <a:ext cx="5325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FPS (инференс)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661320" y="3045240"/>
            <a:ext cx="532548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Оценочная частота обработки кадров на RPi Zero 2 W при 192×192 INT8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6335640" y="1852200"/>
            <a:ext cx="50590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1" lang="en-US" sz="4650" spc="-139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10м</a:t>
            </a:r>
            <a:endParaRPr b="0" lang="ru-RU" sz="4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6202440" y="2662200"/>
            <a:ext cx="5325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Дальность захвата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6202440" y="3045240"/>
            <a:ext cx="532548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Обнаружение человека до 10 м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794520" y="4035960"/>
            <a:ext cx="50590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1" lang="en-US" sz="4650" spc="-139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25Гц</a:t>
            </a:r>
            <a:endParaRPr b="0" lang="ru-RU" sz="4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661320" y="4846320"/>
            <a:ext cx="5325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Частота guidance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661320" y="5229000"/>
            <a:ext cx="532548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Поток MSP_RC → MSP_SET_RAW_RC: 25 команд в секунду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6335640" y="4035960"/>
            <a:ext cx="50590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1" lang="en-US" sz="4650" spc="-139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115200</a:t>
            </a:r>
            <a:endParaRPr b="0" lang="ru-RU" sz="4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6202440" y="4846320"/>
            <a:ext cx="5325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Бод, MSP-линк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6202440" y="5229000"/>
            <a:ext cx="532548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Скорость UART/USB-интерфейса с полётным контроллером Speedybee F405 V4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356760" y="5981040"/>
            <a:ext cx="1147608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Все характеристики получены на стенде; лётных испытаний не проводилось. Условия замеров подлежат уточнению.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6984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0"/>
          <p:cNvSpPr/>
          <p:nvPr/>
        </p:nvSpPr>
        <p:spPr>
          <a:xfrm>
            <a:off x="5233320" y="745920"/>
            <a:ext cx="62946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48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СТЕНДОВАЯ ПРОВЕРКА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233320" y="1051560"/>
            <a:ext cx="62946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96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Результаты стендовых испытаний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233320" y="2260440"/>
            <a:ext cx="6294600" cy="9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defTabSz="914400">
              <a:lnSpc>
                <a:spcPct val="123000"/>
              </a:lnSpc>
              <a:tabLst>
                <a:tab algn="l" pos="0"/>
              </a:tabLst>
            </a:pPr>
            <a:r>
              <a:rPr b="0" lang="en-US" sz="130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Проверка выполнена на стационарном стенде: без полёта, с реальным железом. Основные сценарии — вывод PAL-картинки с боксами в FPV-шлем, установка и проверка MSP-линка с Speedybee F405 V4, dry-run пайплайна детекции. Фиксация результатов — через логи </a:t>
            </a:r>
            <a:r>
              <a:rPr b="0" lang="en-US" sz="1300" spc="-26" strike="noStrike" u="none">
                <a:solidFill>
                  <a:srgbClr val="272525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detector.log</a:t>
            </a:r>
            <a:r>
              <a:rPr b="0" lang="en-US" sz="130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и </a:t>
            </a:r>
            <a:r>
              <a:rPr b="0" lang="en-US" sz="1300" spc="-26" strike="noStrike" u="none">
                <a:solidFill>
                  <a:srgbClr val="272525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marker_guidance.log</a:t>
            </a:r>
            <a:r>
              <a:rPr b="0" lang="en-US" sz="130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5239800" y="3371040"/>
            <a:ext cx="3139920" cy="1603080"/>
          </a:xfrm>
          <a:custGeom>
            <a:avLst/>
            <a:gdLst>
              <a:gd name="textAreaLeft" fmla="*/ 0 w 3139920"/>
              <a:gd name="textAreaRight" fmla="*/ 3142080 w 3139920"/>
              <a:gd name="textAreaTop" fmla="*/ 0 h 1603080"/>
              <a:gd name="textAreaBottom" fmla="*/ 1605240 h 1603080"/>
            </a:gdLst>
            <a:ahLst/>
            <a:cxnLst/>
            <a:rect l="textAreaLeft" t="textAreaTop" r="textAreaRight" b="textAreaBottom"/>
            <a:pathLst>
              <a:path w="3142080" h="1605062">
                <a:moveTo>
                  <a:pt x="56233" y="0"/>
                </a:moveTo>
                <a:lnTo>
                  <a:pt x="3142080" y="0"/>
                </a:lnTo>
                <a:lnTo>
                  <a:pt x="3142080" y="1605062"/>
                </a:lnTo>
                <a:lnTo>
                  <a:pt x="0" y="1605062"/>
                </a:lnTo>
                <a:lnTo>
                  <a:pt x="0" y="56234"/>
                </a:lnTo>
                <a:arcTo wR="56233" hR="56234" stAng="10800000" swAng="5400000"/>
                <a:close/>
              </a:path>
            </a:pathLst>
          </a:cu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400360" y="3531960"/>
            <a:ext cx="28188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PAL-вывод в шлем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5400360" y="3864600"/>
            <a:ext cx="2818800" cy="9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3000"/>
              </a:lnSpc>
              <a:tabLst>
                <a:tab algn="l" pos="0"/>
              </a:tabLst>
            </a:pPr>
            <a:r>
              <a:rPr b="0" lang="en-US" sz="125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Картинка с боксами детекции выводится через PAL-framebuffer в FPV-шлем оператора — подтверждено на стенде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8381880" y="3371040"/>
            <a:ext cx="3139920" cy="1603080"/>
          </a:xfrm>
          <a:custGeom>
            <a:avLst/>
            <a:gdLst>
              <a:gd name="textAreaLeft" fmla="*/ 0 w 3139920"/>
              <a:gd name="textAreaRight" fmla="*/ 3142080 w 3139920"/>
              <a:gd name="textAreaTop" fmla="*/ 0 h 1603080"/>
              <a:gd name="textAreaBottom" fmla="*/ 1605240 h 1603080"/>
            </a:gdLst>
            <a:ahLst/>
            <a:cxnLst/>
            <a:rect l="textAreaLeft" t="textAreaTop" r="textAreaRight" b="textAreaBottom"/>
            <a:pathLst>
              <a:path w="3142080" h="1605062">
                <a:moveTo>
                  <a:pt x="0" y="0"/>
                </a:moveTo>
                <a:lnTo>
                  <a:pt x="3085847" y="0"/>
                </a:lnTo>
                <a:arcTo wR="56233" hR="56234" stAng="16200000" swAng="5400000"/>
                <a:lnTo>
                  <a:pt x="3142080" y="1605062"/>
                </a:lnTo>
                <a:lnTo>
                  <a:pt x="0" y="1605062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8381880" y="3371040"/>
            <a:ext cx="16920" cy="160308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8542440" y="3531960"/>
            <a:ext cx="28188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48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MSP-линк и dry-run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8542440" y="3864600"/>
            <a:ext cx="28188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23000"/>
              </a:lnSpc>
              <a:tabLst>
                <a:tab algn="l" pos="0"/>
              </a:tabLst>
            </a:pPr>
            <a:r>
              <a:rPr b="0" lang="en-US" sz="1250" spc="-26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MSP-соединение установлено; dry-run пайплайна пройден; команды R/P/Y/T передаются по AUX1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5239800" y="4976280"/>
            <a:ext cx="6282000" cy="1692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21"/>
          <p:cNvSpPr/>
          <p:nvPr/>
        </p:nvSpPr>
        <p:spPr>
          <a:xfrm>
            <a:off x="8204040" y="401616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644040" y="401616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644040" y="198000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Text 0"/>
          <p:cNvSpPr/>
          <p:nvPr/>
        </p:nvSpPr>
        <p:spPr>
          <a:xfrm>
            <a:off x="661320" y="864720"/>
            <a:ext cx="108666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54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Почему именно этот модуль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661320" y="1213560"/>
            <a:ext cx="108666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105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Преимущества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720000" y="2060640"/>
            <a:ext cx="2895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Автономность терминала 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720000" y="2400840"/>
            <a:ext cx="3418920" cy="11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после захвата цели наведение идёт по бортовому видео без оператора и радиоканала: потеря связи или подавление РЭБ на финальном участке не срывают атаку. 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720000" y="4140000"/>
            <a:ext cx="2895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Лёгкая платформа 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720000" y="4419360"/>
            <a:ext cx="3418920" cy="11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Raspberry Pi Zero 2 W + штатная камера: компактно, ставится на FPV-дрон без изменений в конструкции борта. 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8280000" y="4140000"/>
            <a:ext cx="2895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Логирование 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8280000" y="4419360"/>
            <a:ext cx="3418920" cy="12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два ротационных лога (детектор + guidance), конечный автомат с фиксацией переходов: причина любого срыва восстанавливается по записи.</a:t>
            </a: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424040" y="198000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4424040" y="401616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8204040" y="1980000"/>
            <a:ext cx="3494880" cy="17427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56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4500000" y="2061720"/>
            <a:ext cx="291780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Дешевизна и универсальность 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9"/>
          <p:cNvSpPr/>
          <p:nvPr/>
        </p:nvSpPr>
        <p:spPr>
          <a:xfrm>
            <a:off x="4500000" y="2463840"/>
            <a:ext cx="3418920" cy="12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модуль собирается на серийных компонентах (Raspberry Pi Zero 2 W + камера) и работает со штатным полётным контроллером на Betaflight, поэтому стоимость одного комплекта на порядок ниже специализированных решений. 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4"/>
          <p:cNvSpPr/>
          <p:nvPr/>
        </p:nvSpPr>
        <p:spPr>
          <a:xfrm>
            <a:off x="4483800" y="4140000"/>
            <a:ext cx="2895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Безопасная связка с Betaflight  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4500000" y="4419360"/>
            <a:ext cx="3418920" cy="12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AUX-каналы остаются на приёмнике; dry-run по умолчанию, живой режим — только с двойным подтверждением; ошибка MSP прекращает отправку → штатный failsafe. 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8280000" y="2060640"/>
            <a:ext cx="2895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Производительность 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8"/>
          <p:cNvSpPr/>
          <p:nvPr/>
        </p:nvSpPr>
        <p:spPr>
          <a:xfrm>
            <a:off x="8263800" y="2396160"/>
            <a:ext cx="3435120" cy="12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YOLOv8n в INT8 TFLite, инференс каждого N-го кадра; отсутствует “мерцание” боксов.</a:t>
            </a:r>
            <a:r>
              <a:rPr b="0" lang="en-US" sz="1000" spc="-28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661320" y="538560"/>
            <a:ext cx="108666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500" spc="-45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ИТОГИ И СЛЕДУЮЩИЕ ШАГИ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661320" y="822960"/>
            <a:ext cx="108666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3000" spc="-88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Дорожная карта развития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661320" y="1477080"/>
            <a:ext cx="114760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6086160" y="1830600"/>
            <a:ext cx="16920" cy="360972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5491080" y="1991160"/>
            <a:ext cx="451440" cy="1692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5925600" y="1830600"/>
            <a:ext cx="338040" cy="338040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5982480" y="1859040"/>
            <a:ext cx="2246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0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61320" y="1882440"/>
            <a:ext cx="4676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45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Текущий этап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661320" y="2191320"/>
            <a:ext cx="467604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23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Прототип + интегрированный модуль; стенд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6247080" y="2837880"/>
            <a:ext cx="451440" cy="1692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5925600" y="2677320"/>
            <a:ext cx="338040" cy="338040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5982480" y="2705760"/>
            <a:ext cx="2246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1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6851880" y="2729160"/>
            <a:ext cx="4676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45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Шаг 1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6851880" y="3038040"/>
            <a:ext cx="467604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23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Маркерный класс: разметка датасета, дообучение, верификация детекции маркера на стенде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5491080" y="3589560"/>
            <a:ext cx="451440" cy="1692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5925600" y="3429000"/>
            <a:ext cx="338040" cy="338040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5982480" y="3457440"/>
            <a:ext cx="2246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2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661320" y="3480840"/>
            <a:ext cx="4676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45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Шаг 2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661320" y="3789720"/>
            <a:ext cx="467604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23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ПО: создание программы с графическим интерфейсом для настройки модуля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6247080" y="4341240"/>
            <a:ext cx="451440" cy="1692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5925600" y="4181040"/>
            <a:ext cx="338040" cy="338040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48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5982480" y="4209120"/>
            <a:ext cx="2246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54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3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6851880" y="4232880"/>
            <a:ext cx="467604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45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Шаг 3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6851880" y="4541400"/>
            <a:ext cx="467604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23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Натурные замеры: дальность, точность наведения, поведение при потере цели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661320" y="5578560"/>
            <a:ext cx="10866600" cy="738720"/>
          </a:xfrm>
          <a:prstGeom prst="roundRect">
            <a:avLst>
              <a:gd name="adj" fmla="val 8574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3" name="Image 0" descr="preencoded.png"/>
          <p:cNvPicPr/>
          <p:nvPr/>
        </p:nvPicPr>
        <p:blipFill>
          <a:blip r:embed="rId1"/>
          <a:stretch/>
        </p:blipFill>
        <p:spPr>
          <a:xfrm>
            <a:off x="812520" y="5751000"/>
            <a:ext cx="186840" cy="14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25"/>
          <p:cNvSpPr/>
          <p:nvPr/>
        </p:nvSpPr>
        <p:spPr>
          <a:xfrm>
            <a:off x="1152720" y="5737320"/>
            <a:ext cx="1022400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23" strike="noStrike" u="non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Приглашаем к сотрудничеству: предоставление испытательного стенда  / совместная лётная отработка изделия / обучение сборке и настройке модуля.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Application>LibreOffice/25.2.7.2$Windows_x86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2026-09-28T18:05:34Z</dcterms:created>
  <dc:creator/>
  <dc:description/>
  <dc:language>ru-RU</dc:language>
  <cp:lastModifiedBy/>
  <dcterms:modified xsi:type="dcterms:W3CDTF">2026-10-28T20:25:09Z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